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7B61FF">
              <a:alpha val="10000"/>
            </a:srgbClr>
          </a:solidFill>
          <a:ln w="12700">
            <a:solidFill>
              <a:srgbClr val="7B61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1920240" cy="292608"/>
          </a:xfrm>
          <a:prstGeom prst="rect">
            <a:avLst/>
          </a:prstGeom>
          <a:solidFill>
            <a:srgbClr val="00C8FF">
              <a:alpha val="8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내부 임원 보고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Riot Esports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50" kern="0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실시간 경기 맥락 온톨로지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예측 · 승부 예측 · 맞춤형 해설 자동화 플랫폼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429000"/>
            <a:ext cx="4114800" cy="27432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844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현황:  </a:t>
            </a:r>
            <a:pPr indent="0" marL="0">
              <a:buNone/>
            </a:pPr>
            <a:r>
              <a:rPr lang="en-US" sz="12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 완료 / Gate B 진입 준비 중 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9136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보고일: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2026-05-04</a:t>
            </a:r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담당: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사업전략 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CONFIDENTIAL  —  사내 임원 한정 배포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|  프로젝트 배경 및 목적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9808"/>
            <a:ext cx="8412480" cy="1005840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49808"/>
            <a:ext cx="64008" cy="10058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86384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 이스포츠 경기는 수백만 명의 시청자를 보유하나, 실시간 전황 해석 기술이 부재하여 관전 경험이 단순 스트리밍에 머물러 있음. 한타(팀파이트)는 경기 승패를 결정짓는 핵심 이벤트임에도 불구하고, 전문 해설가 의존도가 높고 팬 수준별 맞춤 정보 제공 체계가 없음.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2606040" cy="265176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38528"/>
            <a:ext cx="260604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2084832"/>
            <a:ext cx="475488" cy="475488"/>
          </a:xfrm>
          <a:prstGeom prst="ellipse">
            <a:avLst/>
          </a:prstGeom>
          <a:solidFill>
            <a:srgbClr val="00C8FF">
              <a:alpha val="8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G1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651760"/>
            <a:ext cx="2386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한타 관전 포인트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포착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383280"/>
            <a:ext cx="169164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456432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발생 15초 이전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관전 시점·좌표 자동 선정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77540" y="1938528"/>
            <a:ext cx="2606040" cy="265176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7540" y="1938528"/>
            <a:ext cx="260604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42132" y="2084832"/>
            <a:ext cx="475488" cy="475488"/>
          </a:xfrm>
          <a:prstGeom prst="ellipse">
            <a:avLst/>
          </a:prstGeom>
          <a:solidFill>
            <a:srgbClr val="7B61FF">
              <a:alpha val="8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213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</a:rPr>
              <a:t>G2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87268" y="2651760"/>
            <a:ext cx="2386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유저 수준별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딥다이브 해설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34740" y="3383280"/>
            <a:ext cx="169164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7268" y="3456432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종료 후 Level 1~4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맞춤형 해설 자동 생성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89320" y="1938528"/>
            <a:ext cx="2606040" cy="2651760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938528"/>
            <a:ext cx="260604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3912" y="2084832"/>
            <a:ext cx="475488" cy="475488"/>
          </a:xfrm>
          <a:prstGeom prst="ellipse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G3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9048" y="2651760"/>
            <a:ext cx="2386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사전·인게임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승부 예측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3383280"/>
            <a:ext cx="169164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3456432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Pre-game / Win Probability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Teamfight Outcome 3단계 예측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|  기술 아키텍처 — 4-레이어 온톨로지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841248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8046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32688"/>
            <a:ext cx="1005840" cy="256032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932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LAYER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64208" y="8778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추론·생성 레이어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64208" y="1207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예측 · Win Prob · 수준별 해설 생성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+ Bedrock / Claude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841248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37360"/>
            <a:ext cx="64008" cy="80467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865376"/>
            <a:ext cx="1005840" cy="256032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8653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LAYER 2B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64208" y="18105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벡터 레이어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64208" y="2139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상태 임베딩 · 유사 상황 검색 (23× 속도↑)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9385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pgvectorscale (StreamingDiskANN)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670048"/>
            <a:ext cx="841248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4D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670048"/>
            <a:ext cx="64008" cy="804672"/>
          </a:xfrm>
          <a:prstGeom prst="rect">
            <a:avLst/>
          </a:prstGeom>
          <a:solidFill>
            <a:srgbClr val="4DC8FF"/>
          </a:solidFill>
          <a:ln w="12700">
            <a:solidFill>
              <a:srgbClr val="4DC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98064"/>
            <a:ext cx="1005840" cy="256032"/>
          </a:xfrm>
          <a:prstGeom prst="rect">
            <a:avLst/>
          </a:prstGeom>
          <a:solidFill>
            <a:srgbClr val="4DC8FF">
              <a:alpha val="80000"/>
            </a:srgbClr>
          </a:solidFill>
          <a:ln w="12700">
            <a:solidFill>
              <a:srgbClr val="4D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7980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C8FF"/>
                </a:solidFill>
              </a:rPr>
              <a:t>LAYER 2A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64208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동적 온톨로지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64208" y="30723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게임 상태 시계열 — 2A+2B 동일 인스턴스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87121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(PostgreSQL ext.)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602736"/>
            <a:ext cx="841248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602736"/>
            <a:ext cx="64008" cy="8046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3730752"/>
            <a:ext cx="1005840" cy="256032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7307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</a:rPr>
              <a:t>LAYER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64208" y="3675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정적 온톨로지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64208" y="4005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챔피언 · 아이템 · 팀 · 선수 지식 그래프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38039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Neptune (openCypher)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219456"/>
          </a:xfrm>
          <a:prstGeom prst="rect">
            <a:avLst/>
          </a:prstGeom>
          <a:solidFill>
            <a:srgbClr val="0D2A1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720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핵심 설계 원칙: Layer 2A + 2B가 동일 PostgreSQL 인스턴스 → 시계열 쿼리 + 벡터 검색을 단일 SQL로 수행 / 별도 벡터 DB 불필요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구현 방법 ① — 데이터 수집 파이프라인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402336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8046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950976"/>
            <a:ext cx="1097280" cy="23774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9509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실시간 핵심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859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Stats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2070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1초 단위 위치/HP/쿨타임 전체 선수 상태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64792"/>
            <a:ext cx="402336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64792"/>
            <a:ext cx="64008" cy="80467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1911096"/>
            <a:ext cx="1097280" cy="237744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911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61FF"/>
                </a:solidFill>
              </a:rPr>
              <a:t>학습 데이터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18196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Match-v5 Timeline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1671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경기 이벤트 스트림 → 학습 데이터 구성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402336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24912"/>
            <a:ext cx="64008" cy="8046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2871216"/>
            <a:ext cx="1097280" cy="237744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8712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</a:rPr>
              <a:t>게임 메타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27797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Spectator-v5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1272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 시작 시 챔피언·룬·소환사 주문 메타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85032"/>
            <a:ext cx="402336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4D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85032"/>
            <a:ext cx="64008" cy="804672"/>
          </a:xfrm>
          <a:prstGeom prst="rect">
            <a:avLst/>
          </a:prstGeom>
          <a:solidFill>
            <a:srgbClr val="4DC8FF"/>
          </a:solidFill>
          <a:ln w="12700">
            <a:solidFill>
              <a:srgbClr val="4D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0" y="3831336"/>
            <a:ext cx="1097280" cy="237744"/>
          </a:xfrm>
          <a:prstGeom prst="rect">
            <a:avLst/>
          </a:prstGeom>
          <a:solidFill>
            <a:srgbClr val="4DC8FF">
              <a:alpha val="80000"/>
            </a:srgbClr>
          </a:solidFill>
          <a:ln w="12700">
            <a:solidFill>
              <a:srgbClr val="4D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831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DC8FF"/>
                </a:solidFill>
              </a:rPr>
              <a:t>정적 데이터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373989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Dragon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0873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챔피언·아이템 정적 데이터 → Neptune 적재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713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파이프라인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1024128"/>
            <a:ext cx="3931920" cy="749808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56048" y="1179576"/>
            <a:ext cx="402336" cy="402336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1179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11155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Lambda (Ingestion)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1초 폴링 / webhook 수신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29400" y="1773936"/>
            <a:ext cx="73152" cy="201168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1975104"/>
            <a:ext cx="3931920" cy="749808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56048" y="2130552"/>
            <a:ext cx="402336" cy="402336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02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40680" y="206654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Data Streams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이벤트 스트림 버퍼링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29400" y="2724912"/>
            <a:ext cx="73152" cy="201168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2926080"/>
            <a:ext cx="3931920" cy="749808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56048" y="3081528"/>
            <a:ext cx="402336" cy="402336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03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40680" y="3017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Parser / Event Detector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정제 및 이벤트 추출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29400" y="3675888"/>
            <a:ext cx="73152" cy="201168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877056"/>
            <a:ext cx="3931920" cy="749808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56048" y="4032504"/>
            <a:ext cx="402336" cy="402336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04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40680" y="396849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+ pgvectorscale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시계열·벡터 단일 인스턴스 적재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|  구현 방법 ② — ML 예측 모델 및 해설 생성 엔진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202996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49808"/>
            <a:ext cx="2029968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77824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한타 예측 모델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" y="1417320"/>
            <a:ext cx="1810512" cy="256032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173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SageMaker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73736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Rule-based + K-NN 앙상블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48840"/>
            <a:ext cx="1664208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24028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2441448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공간·시간·상태·이벤트·온톨로지·메타 피처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29900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9768" y="3191256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P(teamfight) &gt; 0.75 → 관전 포인트 Alert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373989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9768" y="3941064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0.5× + K-NN 0.3× + Rule 0.2×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59736" y="749808"/>
            <a:ext cx="202996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9736" y="749808"/>
            <a:ext cx="2029968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9464" y="877824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 Probability 모델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9464" y="1417320"/>
            <a:ext cx="1810512" cy="256032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9464" y="14173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SageMaker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9464" y="173736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16피처 (EXP004)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42616" y="2148840"/>
            <a:ext cx="1664208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9464" y="224028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9464" y="2441448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골드차·킬차·타워·드래곤·CS·HP·와드·킬참여율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9464" y="29900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69464" y="3191256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10초 팀별 승리 확률 시계열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9464" y="373989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69464" y="3941064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Group-level CV 검증 / 2,000경기 학습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99432" y="749808"/>
            <a:ext cx="202996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99432" y="749808"/>
            <a:ext cx="2029968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877824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Teamfight Outcome 모델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1417320"/>
            <a:ext cx="1810512" cy="256032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14173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</a:rPr>
              <a:t>SageMaker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173736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이진분류 (EXP-TF-001)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2148840"/>
            <a:ext cx="1664208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24028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09160" y="2441448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직전 gold/hp/level/게임시간 7피처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29900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09160" y="3191256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한타 팀A 승리 확률 X%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09160" y="373989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09160" y="3941064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8,711 한타 학습 데이터셋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39128" y="749808"/>
            <a:ext cx="202996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39128" y="749808"/>
            <a:ext cx="2029968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8856" y="877824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Bedrock 해설 생성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48856" y="1417320"/>
            <a:ext cx="1810512" cy="256032"/>
          </a:xfrm>
          <a:prstGeom prst="rect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48856" y="14173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68F"/>
                </a:solidFill>
              </a:rPr>
              <a:t>Amazon Bedrock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48856" y="173736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+ RAG (pgvectorscale)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22008" y="2148840"/>
            <a:ext cx="1664208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48856" y="224028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48856" y="2441448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결과 + 유사 과거 한타 top-K 검색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48856" y="29900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48856" y="3191256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1~4 맞춤형 해설 (캐주얼→분석가)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48856" y="373989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848856" y="3941064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deathRecap + 유사 사례 기반 구체적 해설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|  현재 현황 — Gate A 완료 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31520"/>
            <a:ext cx="8412480" cy="420624"/>
          </a:xfrm>
          <a:prstGeom prst="rect">
            <a:avLst/>
          </a:prstGeom>
          <a:solidFill>
            <a:srgbClr val="0D2A1F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73152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Gate A 오프라인 모델 성능 확정 단계 — 전 항목 통과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완료일: 2026-04-29  |  Gate B(실시간 E2E MVP) 진입 준비 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2011680" cy="187452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98448"/>
            <a:ext cx="20116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447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0.8353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AUC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95728"/>
            <a:ext cx="146304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505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EXP004 LightGBM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(기준 ≥0.83 ✓)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298448"/>
            <a:ext cx="2011680" cy="187452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298448"/>
            <a:ext cx="201168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4447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6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83.4%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46888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Teamfight Outcome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2395728"/>
            <a:ext cx="146304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4505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EXP-TF-001 XGBoost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(기준 ≥60% ✓)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298448"/>
            <a:ext cx="2011680" cy="1874520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298448"/>
            <a:ext cx="20116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4447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57200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Teamfight AUC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395728"/>
            <a:ext cx="146304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4505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8,711 한타 학습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이진분류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5120" y="1298448"/>
            <a:ext cx="2011680" cy="1874520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0" y="1298448"/>
            <a:ext cx="2011680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4447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91.3%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67512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분산 설명률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49440" y="2395728"/>
            <a:ext cx="146304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4505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64차원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310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현황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593592"/>
            <a:ext cx="201168" cy="201168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593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</a:rPr>
              <a:t>▸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3602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LCK 2025 경기 데이터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71800" y="3602736"/>
            <a:ext cx="5715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시리즈 209개 / 게임 685개 / 챔피언 138종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886200"/>
            <a:ext cx="201168" cy="201168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886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</a:rPr>
              <a:t>▸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" y="389534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Match-v5 타임라인 캐시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71800" y="3895344"/>
            <a:ext cx="5715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파일 / team_state 106,566행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178808"/>
            <a:ext cx="201168" cy="201168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178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</a:rPr>
              <a:t>▸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" y="41879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 매핑 성공률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71800" y="4187952"/>
            <a:ext cx="5715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98/114명 (86%) — Riot Account API puuid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471416"/>
            <a:ext cx="201168" cy="201168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471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</a:rPr>
              <a:t>▸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1792" y="44805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패치 이력 커버리지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971800" y="4480560"/>
            <a:ext cx="5715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패치 14.1~15.24 / 챔피언 172개 / 변화 280건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|  서비스 시나리오 — 사용자 경험 플로우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03704" y="1828800"/>
            <a:ext cx="265176" cy="36576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1956816" cy="397764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1956816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96112"/>
            <a:ext cx="1773936" cy="237744"/>
          </a:xfrm>
          <a:prstGeom prst="rect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경기 시작 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78408" y="1234440"/>
            <a:ext cx="640080" cy="640080"/>
          </a:xfrm>
          <a:prstGeom prst="ellipse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B61FF"/>
                </a:solidFill>
              </a:rPr>
              <a:t>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" y="19659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Pre-game 승률 예측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542032"/>
            <a:ext cx="1225296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0604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챔피언 구성 벡터(64차원)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팀A 승리 확률 표시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(예: 블루팀 58%)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52544" y="1828800"/>
            <a:ext cx="265176" cy="36576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749808"/>
            <a:ext cx="1956816" cy="397764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749808"/>
            <a:ext cx="1956816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896112"/>
            <a:ext cx="1773936" cy="237744"/>
          </a:xfrm>
          <a:prstGeom prst="rect">
            <a:avLst/>
          </a:prstGeom>
          <a:solidFill>
            <a:srgbClr val="00C8FF">
              <a:alpha val="7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89611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</a:rPr>
              <a:t>경기 중 (10초 단위)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27248" y="1234440"/>
            <a:ext cx="640080" cy="640080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FF"/>
                </a:solidFill>
              </a:rPr>
              <a:t>◉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560320" y="19659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 Prob 실시간 오버레이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34640" y="2542032"/>
            <a:ext cx="1225296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60604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16피처 추론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골드차·킬·타워 종합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승률 시계열 그래프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01384" y="1828800"/>
            <a:ext cx="265176" cy="36576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749808"/>
            <a:ext cx="1956816" cy="3977640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749808"/>
            <a:ext cx="1956816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896112"/>
            <a:ext cx="1773936" cy="237744"/>
          </a:xfrm>
          <a:prstGeom prst="rect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89611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한타 감지 (-15초)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76088" y="1234440"/>
            <a:ext cx="640080" cy="640080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7608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6B"/>
                </a:solidFill>
              </a:rPr>
              <a:t>▲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709160" y="19659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관전 포인트 Alert 발동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83480" y="2542032"/>
            <a:ext cx="1225296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60604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LSTM+Rule+K-NN 앙상블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0.75 → 최적 카메라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자동 산정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0" y="749808"/>
            <a:ext cx="1956816" cy="3977640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66560" y="749808"/>
            <a:ext cx="1956816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896112"/>
            <a:ext cx="1773936" cy="237744"/>
          </a:xfrm>
          <a:prstGeom prst="rect">
            <a:avLst/>
          </a:prstGeom>
          <a:solidFill>
            <a:srgbClr val="00D68F">
              <a:alpha val="75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89611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68F"/>
                </a:solidFill>
              </a:rPr>
              <a:t>한타 종료 후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24928" y="1234440"/>
            <a:ext cx="640080" cy="640080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68F"/>
                </a:solidFill>
              </a:rPr>
              <a:t>✦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58000" y="19659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수준별 딥다이브 해설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132320" y="2542032"/>
            <a:ext cx="1225296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260604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캐주얼 ~ L4 분석가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RAG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5초 내 생성·전송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|  플렉서블 Gate 로드맵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749808"/>
            <a:ext cx="1664208" cy="4005072"/>
          </a:xfrm>
          <a:prstGeom prst="rect">
            <a:avLst/>
          </a:prstGeom>
          <a:solidFill>
            <a:srgbClr val="0D2A1F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749808"/>
            <a:ext cx="1664208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896112"/>
            <a:ext cx="1481328" cy="237744"/>
          </a:xfrm>
          <a:prstGeom prst="rect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96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68F"/>
                </a:solidFill>
              </a:rPr>
              <a:t>완료 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20700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확정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~2026-05-16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249424"/>
            <a:ext cx="1207008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" y="2359152"/>
            <a:ext cx="146304" cy="146304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31720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AUC 0.8353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" y="2761488"/>
            <a:ext cx="146304" cy="146304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34056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Teamfight Acc 83.4% 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" y="3163824"/>
            <a:ext cx="146304" cy="146304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3639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Embedding 1,572 노드 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" y="3566160"/>
            <a:ext cx="146304" cy="146304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38728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CSV Top 50 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12264" y="749808"/>
            <a:ext cx="1664208" cy="4005072"/>
          </a:xfrm>
          <a:prstGeom prst="rect">
            <a:avLst/>
          </a:prstGeom>
          <a:solidFill>
            <a:srgbClr val="2A1A0D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112264" y="749808"/>
            <a:ext cx="1664208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03704" y="896112"/>
            <a:ext cx="1481328" cy="23774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03704" y="896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진행 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85416" y="120700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85416" y="1481328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E2E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85416" y="1993392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~2026-06-13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40864" y="2249424"/>
            <a:ext cx="1207008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1992" y="2359152"/>
            <a:ext cx="146304" cy="146304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4016" y="2331720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실 자격증명 연결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21992" y="2761488"/>
            <a:ext cx="146304" cy="146304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14016" y="2734056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파이프라인 1경기 완전처리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21992" y="3163824"/>
            <a:ext cx="146304" cy="146304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14016" y="313639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레이턴시 ≤ 3초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21992" y="3566160"/>
            <a:ext cx="146304" cy="146304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14016" y="3538728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오버레이 UI 초안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86200" y="749808"/>
            <a:ext cx="166420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86200" y="749808"/>
            <a:ext cx="166420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77640" y="896112"/>
            <a:ext cx="1481328" cy="237744"/>
          </a:xfrm>
          <a:prstGeom prst="rect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896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예정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59352" y="120700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C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959352" y="1481328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파일럿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검증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59352" y="1993392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~2026-07-31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0" y="2249424"/>
            <a:ext cx="1207008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95928" y="2359152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87952" y="2331720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Precision ≥ 65%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95928" y="2761488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87952" y="2734056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해설 팩트 정확성 ≥ 90%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95928" y="3163824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87952" y="313639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오버레이 MVP 완성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95928" y="3566160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87952" y="3538728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피드백 긍정 ≥ 70%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60136" y="749808"/>
            <a:ext cx="166420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660136" y="749808"/>
            <a:ext cx="166420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51576" y="896112"/>
            <a:ext cx="1481328" cy="237744"/>
          </a:xfrm>
          <a:prstGeom prst="rect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51576" y="896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예정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733288" y="120700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D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733288" y="1481328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파일럿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733288" y="1993392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~2026-10-31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888736" y="2249424"/>
            <a:ext cx="1207008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9864" y="2359152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61888" y="2331720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Precision ≥ 75%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769864" y="2761488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61888" y="2734056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L1~L4 해설 전 레벨 동작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769864" y="3163824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61888" y="313639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클라우드 이전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769864" y="3566160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61888" y="3538728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만족도 ≥ 70%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34072" y="749808"/>
            <a:ext cx="166420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434072" y="749808"/>
            <a:ext cx="166420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25512" y="896112"/>
            <a:ext cx="1481328" cy="237744"/>
          </a:xfrm>
          <a:prstGeom prst="rect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25512" y="896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예정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507224" y="120700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E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7507224" y="1481328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(수익화 진입)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507224" y="1993392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2027-Q2~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662672" y="2249424"/>
            <a:ext cx="1207008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543800" y="2359152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35824" y="2331720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구독 서비스 론칭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543800" y="2761488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35824" y="2734056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방송사 파트너십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543800" y="3163824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735824" y="313639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팀·코치 라이선스 상품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543800" y="3566160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35824" y="3538728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멀티경기 운영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|  Gate B 단기 실행 계획 (~2026-06-13)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49808"/>
            <a:ext cx="2697480" cy="1783080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49808"/>
            <a:ext cx="64008" cy="1783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86584" y="841248"/>
            <a:ext cx="566928" cy="23774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86584" y="841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P0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8412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Bedrock 실 자격증명 연결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371600"/>
            <a:ext cx="246888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43560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L1~L2 해설 실제 생성 테스트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한타 감지 → 해설 ≤ 5초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2240280"/>
            <a:ext cx="731520" cy="20116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240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1일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749808"/>
            <a:ext cx="2697480" cy="1783080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749808"/>
            <a:ext cx="64008" cy="1783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21224" y="841248"/>
            <a:ext cx="566928" cy="23774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21224" y="841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P0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9272" y="8412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Stats E2E 1경기 완전 처리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19272" y="1371600"/>
            <a:ext cx="246888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143560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lolesports_live_poller --replay &lt;GAME_ID&gt;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감지 → 해설 생성 로그 기록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9272" y="2240280"/>
            <a:ext cx="731520" cy="20116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240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5일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16752" y="749808"/>
            <a:ext cx="2697480" cy="178308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16752" y="749808"/>
            <a:ext cx="64008" cy="1783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55864" y="841248"/>
            <a:ext cx="566928" cy="237744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55864" y="841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P1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53912" y="8412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 Alert 레이턴시 측정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53912" y="1371600"/>
            <a:ext cx="246888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143560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발동 → 클라이언트 수신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p95 ≤ 3초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53912" y="2240280"/>
            <a:ext cx="731520" cy="20116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2240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2일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2761488"/>
            <a:ext cx="2697480" cy="178308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" y="2761488"/>
            <a:ext cx="64008" cy="1783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86584" y="2852928"/>
            <a:ext cx="566928" cy="237744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86584" y="28529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P1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" y="28529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 Prob 실시간 오버레이 UI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" y="3383280"/>
            <a:ext cx="246888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344728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시계열 적재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오버레이 시각화 초안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" y="4251960"/>
            <a:ext cx="731520" cy="20116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" y="4251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5일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82112" y="2761488"/>
            <a:ext cx="2697480" cy="178308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82112" y="2761488"/>
            <a:ext cx="64008" cy="17830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21224" y="2852928"/>
            <a:ext cx="566928" cy="237744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21224" y="28529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</a:rPr>
              <a:t>P2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19272" y="28529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Pre-game 승률 예측 (EXP-PG-001)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319272" y="3383280"/>
            <a:ext cx="246888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344728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composition_embedding 기반 K-NN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AUC ≥ 0.70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19272" y="4251960"/>
            <a:ext cx="731520" cy="20116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9272" y="4251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5일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16752" y="2761488"/>
            <a:ext cx="2697480" cy="178308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016752" y="2761488"/>
            <a:ext cx="64008" cy="17830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55864" y="2852928"/>
            <a:ext cx="566928" cy="237744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55864" y="28529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</a:rPr>
              <a:t>P2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53912" y="28529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Bedrock 월 비용 추정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53912" y="3383280"/>
            <a:ext cx="246888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53912" y="344728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LCK 1시즌 기준 Bedrock 호출 비용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≤ $500/월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153912" y="4251960"/>
            <a:ext cx="731520" cy="20116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53912" y="4251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1일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47472" y="4572000"/>
            <a:ext cx="8458200" cy="219456"/>
          </a:xfrm>
          <a:prstGeom prst="rect">
            <a:avLst/>
          </a:prstGeom>
          <a:solidFill>
            <a:srgbClr val="2A1A0D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57200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Gate B 통과 기준: E2E 레이턴시 ≤ 5초 / Alert 수신 ≤ 3초 / Bedrock 월비용 ≤ $500 / 1경기 완전 처리 로그 기록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|  미래 전략 — 수익화 및 플랫폼화 방향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9808"/>
            <a:ext cx="2651760" cy="256032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49808"/>
            <a:ext cx="265176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96112"/>
            <a:ext cx="2468880" cy="237744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961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</a:rPr>
              <a:t>Phase 1 (Gate 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1887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Freemium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" y="1572768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이스포츠 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81051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무료 / $9.9/월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103120"/>
            <a:ext cx="192024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176272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L1~L2 해설 무료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L3~L4 구독 전용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오버레이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749808"/>
            <a:ext cx="2651760" cy="256032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749808"/>
            <a:ext cx="265176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896112"/>
            <a:ext cx="2468880" cy="237744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8961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4408" y="11887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 방송사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64408" y="1572768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이스포츠 중계 플랫폼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181051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협의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20440" y="2103120"/>
            <a:ext cx="192024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176272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플러그인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데이터 피드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API 제공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749808"/>
            <a:ext cx="2651760" cy="2560320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749808"/>
            <a:ext cx="265176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896112"/>
            <a:ext cx="2468880" cy="23774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8961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Phase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53328" y="11887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팀/코치 라이선스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53328" y="1572768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프로팀·구단 분석팀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53328" y="181051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$299/월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2103120"/>
            <a:ext cx="192024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2176272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Analyst 기능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접근 권한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 경기 비교 리포트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4381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 확장 계획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785616"/>
            <a:ext cx="1371600" cy="237744"/>
          </a:xfrm>
          <a:prstGeom prst="rect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856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Gate B (현재)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28800" y="37673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Docker + asyncio 배치 버퍼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4920" y="37673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단계, Kinesis 불필요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114800"/>
            <a:ext cx="1371600" cy="237744"/>
          </a:xfrm>
          <a:prstGeom prst="rect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114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Gate 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28800" y="40965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단일 인스턴스 + TimescaleDB 이식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4096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로컬과 동일 Docker 이미지 그대로 이식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443984"/>
            <a:ext cx="1371600" cy="237744"/>
          </a:xfrm>
          <a:prstGeom prst="rect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4439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Gate E (수익화)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828800" y="44256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팬아웃 + Neptune + Timescale Cloud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74920" y="44256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경기 ≥5개 / B2B 계약 확정 후 전환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7B61FF">
              <a:alpha val="8000"/>
            </a:srgbClr>
          </a:solidFill>
          <a:ln w="12700">
            <a:solidFill>
              <a:srgbClr val="7B61FF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종합 요약 및 다음 단계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49808"/>
            <a:ext cx="5349240" cy="694944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749808"/>
            <a:ext cx="64008" cy="69494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896112"/>
            <a:ext cx="384048" cy="384048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68F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0976" y="80467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4-레이어 온톨로지 아키텍처 설계 완료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(Neptune + TimescaleDB + pgvectorscale + Bedrock)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1554480"/>
            <a:ext cx="5349240" cy="694944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554480"/>
            <a:ext cx="64008" cy="69494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1700784"/>
            <a:ext cx="384048" cy="384048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68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" y="160934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 전 항목 통과 — Win Prob AUC 0.8353 / Teamfight Acc 83.4%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2,000경기 / 106,566 타임스탬프 확보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359152"/>
            <a:ext cx="5349240" cy="694944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359152"/>
            <a:ext cx="64008" cy="69494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505456"/>
            <a:ext cx="384048" cy="384048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68F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76" y="241401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LCK 2025 데이터 파이프라인 구현 완료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시리즈 209 / 게임 685 / 챔피언 138종 온톨로지 구축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163824"/>
            <a:ext cx="5349240" cy="694944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163824"/>
            <a:ext cx="64008" cy="69494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310128"/>
            <a:ext cx="384048" cy="384048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" y="321868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B 진입: Bedrock 연결 + E2E 파이프라인 → 2026-06-13 목표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오버레이 UI + WebSocket 레이턴시 검증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3968496"/>
            <a:ext cx="5349240" cy="694944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968496"/>
            <a:ext cx="64008" cy="69494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4114800"/>
            <a:ext cx="384048" cy="384048"/>
          </a:xfrm>
          <a:prstGeom prst="ellipse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61FF"/>
                </a:solidFill>
              </a:rPr>
              <a:t>◎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0976" y="40233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 수익화: Freemium(L1~L4) + B2B 방송사 + 팀 라이선스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2027-Q2 이후 플랫폼화 진입 목표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61888" y="749808"/>
            <a:ext cx="2834640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61888" y="749808"/>
            <a:ext cx="283464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53328" y="886968"/>
            <a:ext cx="2651760" cy="256032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886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즉시 실행 액션 (Gate B)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53328" y="1234440"/>
            <a:ext cx="26517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53328" y="1289304"/>
            <a:ext cx="420624" cy="2011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53328" y="128930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P0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28816" y="1261872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실 자격증명 연결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L1~L2 해설 생성 테스트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53328" y="1929384"/>
            <a:ext cx="26517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53328" y="1984248"/>
            <a:ext cx="420624" cy="2011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98424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P0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28816" y="1956816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1경기 완전 처리 로그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한타감지·해설 파이프라인 검증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53328" y="2624328"/>
            <a:ext cx="26517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53328" y="2679192"/>
            <a:ext cx="420624" cy="2011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53328" y="26791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P1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528816" y="2651760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레이턴시 측정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p95 ≤ 3초 목표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53328" y="3319272"/>
            <a:ext cx="26517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53328" y="3374136"/>
            <a:ext cx="420624" cy="2011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53328" y="337413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P1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528816" y="3346704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실시간 UI 초안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오버레이 스크린샷 확보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53328" y="4014216"/>
            <a:ext cx="26517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53328" y="4069080"/>
            <a:ext cx="420624" cy="2011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53328" y="406908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P2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528816" y="4041648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Pre-game K-NN (EXP-PG-001)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AUC ≥ 0.70 달성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1C0BD74368C434982A66C757FB4EF51" ma:contentTypeVersion="14" ma:contentTypeDescription="새 문서를 만듭니다." ma:contentTypeScope="" ma:versionID="abcf3c1dee3f7f538f4598bc60100a95">
  <xsd:schema xmlns:xsd="http://www.w3.org/2001/XMLSchema" xmlns:xs="http://www.w3.org/2001/XMLSchema" xmlns:p="http://schemas.microsoft.com/office/2006/metadata/properties" xmlns:ns2="50fd3402-1425-4c5c-9d41-a8c0e9cae9be" xmlns:ns3="6964ddd8-76d1-4737-bbf7-9c47916b69c9" targetNamespace="http://schemas.microsoft.com/office/2006/metadata/properties" ma:root="true" ma:fieldsID="a060cd3cb9c7ed13084bf3fb0720187f" ns2:_="" ns3:_="">
    <xsd:import namespace="50fd3402-1425-4c5c-9d41-a8c0e9cae9be"/>
    <xsd:import namespace="6964ddd8-76d1-4737-bbf7-9c47916b69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fd3402-1425-4c5c-9d41-a8c0e9cae9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이미지 태그" ma:readOnly="false" ma:fieldId="{5cf76f15-5ced-4ddc-b409-7134ff3c332f}" ma:taxonomyMulti="true" ma:sspId="02fcb71f-41c1-4540-b2dc-8b4601181e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64ddd8-76d1-4737-bbf7-9c47916b69c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c3fadcd-a227-4e8e-b877-b1af5bcf6b21}" ma:internalName="TaxCatchAll" ma:showField="CatchAllData" ma:web="6964ddd8-76d1-4737-bbf7-9c47916b69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964ddd8-76d1-4737-bbf7-9c47916b69c9" xsi:nil="true"/>
    <lcf76f155ced4ddcb4097134ff3c332f xmlns="50fd3402-1425-4c5c-9d41-a8c0e9cae9b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EEB05A0-CDCE-4FAA-B24E-31DA0511BE1F}"/>
</file>

<file path=customXml/itemProps2.xml><?xml version="1.0" encoding="utf-8"?>
<ds:datastoreItem xmlns:ds="http://schemas.openxmlformats.org/officeDocument/2006/customXml" ds:itemID="{855C8F4A-168E-4131-9133-108F46338853}"/>
</file>

<file path=customXml/itemProps3.xml><?xml version="1.0" encoding="utf-8"?>
<ds:datastoreItem xmlns:ds="http://schemas.openxmlformats.org/officeDocument/2006/customXml" ds:itemID="{AC9024D9-99B8-4DB2-8C1F-68C8FFFAEC5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Riot Esports 실시간 경기 맥락 온톨로지 — 내부 임원 보고</dc:title>
  <dc:subject>PptxGenJS Presentation</dc:subject>
  <dc:creator>PptxGenJS</dc:creator>
  <cp:lastModifiedBy>PptxGenJS</cp:lastModifiedBy>
  <cp:revision>1</cp:revision>
  <dcterms:created xsi:type="dcterms:W3CDTF">2026-05-03T16:12:14Z</dcterms:created>
  <dcterms:modified xsi:type="dcterms:W3CDTF">2026-05-03T16:12:14Z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0x010100C1C0BD74368C434982A66C757FB4EF51</vt:lpwstr>
  </property>
</Properties>
</file>
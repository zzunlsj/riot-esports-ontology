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1920240" cy="292608"/>
          </a:xfrm>
          <a:prstGeom prst="rect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내부 임원 보고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Riot Esports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경기 맥락 온톨로지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예측 · 승부 예측 · 맞춤형 해설 · MiroFish 선수 에이전트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4114800" cy="27432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844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현황:  </a:t>
            </a:r>
            <a:pPr indent="0" marL="0">
              <a:buNone/>
            </a:pPr>
            <a:r>
              <a:rPr lang="en-US" sz="12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 완료 / Gate B 진입 준비 중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보고일: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2026-05-04</a:t>
            </a:r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담당: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사업전략 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 —  사내 임원 한정 배포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프로젝트 배경 및 목적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8412480" cy="1005840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64008" cy="10058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86384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 이스포츠 경기는 수백만 명의 시청자를 보유하나, 실시간 전황 해석 기술이 부재하여 관전 경험이 단순 스트리밍에 머물러 있음. 한타(팀파이트)는 경기 승패를 결정짓는 핵심 이벤트임에도 불구하고, 전문 해설가 의존도가 높고 팬 수준별 맞춤 정보 제공 체계가 없음.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2606040" cy="265176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38528"/>
            <a:ext cx="260604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2084832"/>
            <a:ext cx="475488" cy="475488"/>
          </a:xfrm>
          <a:prstGeom prst="ellipse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G1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한타 관전 포인트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포착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16916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456432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발생 15초 이전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관전 시점·좌표 자동 선정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77540" y="1938528"/>
            <a:ext cx="2606040" cy="265176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7540" y="1938528"/>
            <a:ext cx="260604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2132" y="2084832"/>
            <a:ext cx="475488" cy="475488"/>
          </a:xfrm>
          <a:prstGeom prst="ellipse">
            <a:avLst/>
          </a:prstGeom>
          <a:solidFill>
            <a:srgbClr val="7B61FF">
              <a:alpha val="8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213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</a:rPr>
              <a:t>G2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87268" y="2651760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유저 수준별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딥다이브 해설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34740" y="3383280"/>
            <a:ext cx="16916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7268" y="3456432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종료 후 Level 1~4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해설 자동 생성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1938528"/>
            <a:ext cx="2606040" cy="265176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938528"/>
            <a:ext cx="26060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2084832"/>
            <a:ext cx="475488" cy="475488"/>
          </a:xfrm>
          <a:prstGeom prst="ellipse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G3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9048" y="2651760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사전·인게임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승부 예측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383280"/>
            <a:ext cx="16916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3456432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Pre-game / Win Probability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Teamfight Outcome 3단계 예측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기술 아키텍처 — 4-레이어 온톨로지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32688"/>
            <a:ext cx="1005840" cy="256032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32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LAYER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64208" y="8778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추론·생성 레이어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64208" y="1207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예측 · Win Prob · 수준별 해설 생성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+ Bedrock / Claude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37360"/>
            <a:ext cx="64008" cy="8046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65376"/>
            <a:ext cx="1005840" cy="256032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865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LAYER 2B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64208" y="18105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벡터 레이어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64208" y="2139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상태 임베딩 · 유사 상황 검색 (23× 속도↑)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9385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pgvectorscale (StreamingDiskANN)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70048"/>
            <a:ext cx="841248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4D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70048"/>
            <a:ext cx="64008" cy="804672"/>
          </a:xfrm>
          <a:prstGeom prst="rect">
            <a:avLst/>
          </a:prstGeom>
          <a:solidFill>
            <a:srgbClr val="4DC8FF"/>
          </a:solidFill>
          <a:ln w="12700">
            <a:solidFill>
              <a:srgbClr val="4D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98064"/>
            <a:ext cx="1005840" cy="256032"/>
          </a:xfrm>
          <a:prstGeom prst="rect">
            <a:avLst/>
          </a:prstGeom>
          <a:solidFill>
            <a:srgbClr val="4DC8FF">
              <a:alpha val="80000"/>
            </a:srgbClr>
          </a:solidFill>
          <a:ln w="12700">
            <a:solidFill>
              <a:srgbClr val="4D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798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C8FF"/>
                </a:solidFill>
              </a:rPr>
              <a:t>LAYER 2A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64208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동적 온톨로지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64208" y="30723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게임 상태 시계열 — 2A+2B 동일 인스턴스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8712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D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(PostgreSQL ext.)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841248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018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02736"/>
            <a:ext cx="64008" cy="804672"/>
          </a:xfrm>
          <a:prstGeom prst="rect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3730752"/>
            <a:ext cx="1005840" cy="256032"/>
          </a:xfrm>
          <a:prstGeom prst="rect">
            <a:avLst/>
          </a:prstGeom>
          <a:solidFill>
            <a:srgbClr val="018BFF">
              <a:alpha val="80000"/>
            </a:srgbClr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730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8BFF"/>
                </a:solidFill>
              </a:rPr>
              <a:t>LAYER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64208" y="3675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정적 온톨로지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64208" y="4005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챔피언·아이템·팀·선수 지식그래프 + MiroFish 에이전트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8039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 →  AuraDB (클라우드)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219456"/>
          </a:xfrm>
          <a:prstGeom prst="rect">
            <a:avLst/>
          </a:prstGeom>
          <a:solidFill>
            <a:srgbClr val="0D1E2E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720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8BFF"/>
                </a:solidFill>
              </a:rPr>
              <a:t>★ Neptune 대신 Neo4j 선택 이유: Bolt 프로토콜 호환(코드 변경 0) · GDS 그래프 알고리즘 라이브러리 · 기존 1,572 노드 자산 보존 · 비용 우위  →  상세 설명: Slide 04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Neo4j AuraDB 선택 근거 — 왜 Amazon Neptune이 아닌가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8412480" cy="420624"/>
          </a:xfrm>
          <a:prstGeom prst="rect">
            <a:avLst/>
          </a:prstGeom>
          <a:solidFill>
            <a:srgbClr val="0D1E2E"/>
          </a:solidFill>
          <a:ln w="12700">
            <a:solidFill>
              <a:srgbClr val="018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498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설계는 Amazon Neptune(AWS 네이티브)을 목표로 했으나, 코드베이스 분석 결과 Neo4j AuraDB가 유일하게 합리적인 선택임을 확인. 구현 중 전환 시 비용이 폭증함.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2651760" cy="182880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16736"/>
            <a:ext cx="265176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65760" cy="365760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444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마이그레이션 비용 제로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1847088"/>
            <a:ext cx="2432304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901952"/>
            <a:ext cx="243230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코드가 neo4j-python-driver(Bolt 프로토콜)로 작성됨. Neptune은 Bolt 미지원 → neo4j_client.py 포함 모든 DB 클라이언트 코드 전면 재작성 필요. Neo4j AuraDB는 .env URI 한 줄 변경만으로 이전 완료.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316736"/>
            <a:ext cx="2651760" cy="182880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316736"/>
            <a:ext cx="265176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426464"/>
            <a:ext cx="365760" cy="365760"/>
          </a:xfrm>
          <a:prstGeom prst="ellipse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75888" y="1444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자산 완전 보존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18688" y="1847088"/>
            <a:ext cx="2432304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1901952"/>
            <a:ext cx="243230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A에서 구축한 CompositionEmbedding 1,572 노드와 K-NN 쿼리 로직이 Neo4j 위에 완성됨. Neptune 이전 시 이 작업을 전부 재수행해야 하며, 학습 성과 손실.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1316736"/>
            <a:ext cx="2651760" cy="1828800"/>
          </a:xfrm>
          <a:prstGeom prst="rect">
            <a:avLst/>
          </a:prstGeom>
          <a:solidFill>
            <a:srgbClr val="1A2236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1316736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1888" y="1426464"/>
            <a:ext cx="365760" cy="36576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19088" y="1444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 Data Science 라이브러리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61888" y="1847088"/>
            <a:ext cx="2432304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1888" y="1901952"/>
            <a:ext cx="243230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 MiroFish 선수 에이전트 구현에는 복잡한 그래프 순회가 필요: 선수 간 시너지 군집 탐지, 챔피언 친화 경로 분석 등. Neo4j GDS는 65개+ 알고리즘 제공. Neptune은 이에 상응하는 알고리즘 라이브러리 없음.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4078224" cy="1426464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291840"/>
            <a:ext cx="4078224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3401568"/>
            <a:ext cx="365760" cy="365760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" y="3419856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비용 구조 우위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" y="3822192"/>
            <a:ext cx="385876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877056"/>
            <a:ext cx="3858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Neptune 최소 비용 $0.10/시간 = 약 $73/월(미사용 포함). Neo4j AuraDB Free Tier로 Gate C 프로토타입 규모 커버 가능. 유료 전환 시 $65/월~로 시작.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08576" y="3291840"/>
            <a:ext cx="4078224" cy="1426464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3291840"/>
            <a:ext cx="4078224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3401568"/>
            <a:ext cx="365760" cy="36576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75504" y="3419856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벤더 락인 회피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385876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877056"/>
            <a:ext cx="3858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Neptune은 AWS 독점 Gremlin/OpenCypher 혼합 방언 → 이전 시 재작성 필연. Neo4j는 오픈소스 기반, 온프레미스 ↔ AuraDB 이동 자유. Gate E 이후 전략 유연성 보장.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구현 방법 ① — 데이터 수집 파이프라인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02336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950976"/>
            <a:ext cx="1097280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950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실시간 핵심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Stats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2070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 단위 위치/HP/쿨타임 전체 선수 상태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64792"/>
            <a:ext cx="402336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64792"/>
            <a:ext cx="64008" cy="8046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911096"/>
            <a:ext cx="1097280" cy="23774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911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61FF"/>
                </a:solidFill>
              </a:rPr>
              <a:t>학습 데이터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18196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Match-v5 Timeline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167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경기 이벤트 스트림 → 학습 데이터 구성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402336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24912"/>
            <a:ext cx="64008" cy="8046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2871216"/>
            <a:ext cx="1097280" cy="237744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8712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게임 메타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7797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Spectator-v5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127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시작 시 챔피언·룬·소환사 주문 메타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85032"/>
            <a:ext cx="4023360" cy="804672"/>
          </a:xfrm>
          <a:prstGeom prst="rect">
            <a:avLst/>
          </a:prstGeom>
          <a:solidFill>
            <a:srgbClr val="1A2236"/>
          </a:solidFill>
          <a:ln w="12700">
            <a:solidFill>
              <a:srgbClr val="4D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85032"/>
            <a:ext cx="64008" cy="804672"/>
          </a:xfrm>
          <a:prstGeom prst="rect">
            <a:avLst/>
          </a:prstGeom>
          <a:solidFill>
            <a:srgbClr val="4DC8FF"/>
          </a:solidFill>
          <a:ln w="12700">
            <a:solidFill>
              <a:srgbClr val="4D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0" y="3831336"/>
            <a:ext cx="1097280" cy="237744"/>
          </a:xfrm>
          <a:prstGeom prst="rect">
            <a:avLst/>
          </a:prstGeom>
          <a:solidFill>
            <a:srgbClr val="4DC8FF">
              <a:alpha val="80000"/>
            </a:srgbClr>
          </a:solidFill>
          <a:ln w="12700">
            <a:solidFill>
              <a:srgbClr val="4D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831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C8FF"/>
                </a:solidFill>
              </a:rPr>
              <a:t>정적 데이터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37398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Dragon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087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챔피언·아이템 정적 데이터 → Neo4j 적재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713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파이프라인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1024128"/>
            <a:ext cx="3931920" cy="749808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6048" y="1179576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179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11155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Lambda (Ingestion)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 폴링 / webhook 수신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1773936"/>
            <a:ext cx="73152" cy="201168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975104"/>
            <a:ext cx="3931920" cy="749808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56048" y="2130552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206654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Data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이벤트 스트림 버퍼링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29400" y="2724912"/>
            <a:ext cx="73152" cy="201168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926080"/>
            <a:ext cx="3931920" cy="749808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56048" y="3081528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Parser / Event Detector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정제 및 이벤트 추출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29400" y="3675888"/>
            <a:ext cx="73152" cy="201168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877056"/>
            <a:ext cx="3931920" cy="749808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56048" y="4032504"/>
            <a:ext cx="402336" cy="402336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04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396849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+ pgvectorscale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시계열·벡터 단일 인스턴스 적재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|  구현 방법 ② — ML 예측 모델 및 해설 생성 엔진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202996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2029968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7782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한타 예측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417320"/>
            <a:ext cx="1810512" cy="256032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SageMaker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7373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Rule-based + K-NN 앙상블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1664208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2402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244144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공간·시간·상태·이벤트·온톨로지·메타 피처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9768" y="31912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P(teamfight) &gt; 0.75 → 관전 Alert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73989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" y="394106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0.5× + K-NN 0.3× + Rule 0.2×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59736" y="749808"/>
            <a:ext cx="202996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9736" y="749808"/>
            <a:ext cx="2029968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87782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Probability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9464" y="1417320"/>
            <a:ext cx="1810512" cy="256032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9464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SageMaker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9464" y="17373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16피처 (EXP004)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42616" y="2148840"/>
            <a:ext cx="1664208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9464" y="22402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9464" y="244144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골드차·킬차·타워·드래곤·CS·HP·와드·킬참여율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9464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69464" y="31912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10초 팀별 승리 확률 시계열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9464" y="373989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9464" y="394106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CV 검증 / 2,000경기 학습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99432" y="749808"/>
            <a:ext cx="202996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99432" y="749808"/>
            <a:ext cx="2029968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87782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Teamfight Outcome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1417320"/>
            <a:ext cx="1810512" cy="256032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SageMaker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17373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이진분류 (EXP-TF-001)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2148840"/>
            <a:ext cx="1664208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2402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244144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직전 gold/hp/level/게임시간 7피처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9160" y="31912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한타 팀A 승리 확률 X%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373989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09160" y="394106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8,711 한타 학습 데이터셋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39128" y="749808"/>
            <a:ext cx="202996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39128" y="749808"/>
            <a:ext cx="2029968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8856" y="87782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Bedrock 해설 생성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48856" y="1417320"/>
            <a:ext cx="1810512" cy="256032"/>
          </a:xfrm>
          <a:prstGeom prst="rect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8856" y="14173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8F"/>
                </a:solidFill>
              </a:rPr>
              <a:t>Amazon Bedrock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48856" y="17373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RAG (pgvectorscale)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22008" y="2148840"/>
            <a:ext cx="1664208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48856" y="22402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48856" y="244144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결과 + 유사 과거 한타 top-K 검색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48856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48856" y="31912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1~4 맞춤형 해설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48856" y="373989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848856" y="394106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deathRecap + 유사 사례 기반 구체적 해설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|  현재 현황 — Gate A 완료 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31520"/>
            <a:ext cx="8412480" cy="420624"/>
          </a:xfrm>
          <a:prstGeom prst="rect">
            <a:avLst/>
          </a:prstGeom>
          <a:solidFill>
            <a:srgbClr val="0D2A1F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3152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Gate A 오프라인 모델 성능 확정 단계 — 전 항목 통과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완료일: 2026-04-29  |  Gate B(실시간 E2E MVP) 진입 준비 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2011680" cy="187452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98448"/>
            <a:ext cx="20116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447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0.8353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AUC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95728"/>
            <a:ext cx="146304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EXP004 LightGBM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(기준 ≥0.83 ✓)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298448"/>
            <a:ext cx="2011680" cy="187452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298448"/>
            <a:ext cx="201168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4447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83.4%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6888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Teamfight Outcome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2395728"/>
            <a:ext cx="146304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EXP-TF-001 XGBoost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(기준 ≥60% ✓)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298448"/>
            <a:ext cx="2011680" cy="187452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298448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4447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57200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Teamfight AUC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395728"/>
            <a:ext cx="146304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8,711 한타 학습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이진분류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1298448"/>
            <a:ext cx="2011680" cy="1874520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1298448"/>
            <a:ext cx="2011680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4447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91.3%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6751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분산 설명률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2395728"/>
            <a:ext cx="146304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64차원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현황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593592"/>
            <a:ext cx="201168" cy="201168"/>
          </a:xfrm>
          <a:prstGeom prst="rect">
            <a:avLst/>
          </a:prstGeom>
          <a:solidFill>
            <a:srgbClr val="018BFF">
              <a:alpha val="80000"/>
            </a:srgbClr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593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18BFF"/>
                </a:solidFill>
              </a:rPr>
              <a:t>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3602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LCK 2025 경기 데이터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71800" y="3602736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 209개 / 게임 685개 / 챔피언 138종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886200"/>
            <a:ext cx="201168" cy="201168"/>
          </a:xfrm>
          <a:prstGeom prst="rect">
            <a:avLst/>
          </a:prstGeom>
          <a:solidFill>
            <a:srgbClr val="018BFF">
              <a:alpha val="80000"/>
            </a:srgbClr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86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18BFF"/>
                </a:solidFill>
              </a:rPr>
              <a:t>▸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" y="389534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Match-v5 타임라인 캐시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71800" y="3895344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파일 / team_state 106,566행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178808"/>
            <a:ext cx="201168" cy="201168"/>
          </a:xfrm>
          <a:prstGeom prst="rect">
            <a:avLst/>
          </a:prstGeom>
          <a:solidFill>
            <a:srgbClr val="018BFF">
              <a:alpha val="80000"/>
            </a:srgbClr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178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18BFF"/>
                </a:solidFill>
              </a:rPr>
              <a:t>▸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" y="4187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온톨로지 자산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71800" y="4187952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114명 / Champion 172개 / PlayerGameStats 5,410개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471416"/>
            <a:ext cx="201168" cy="201168"/>
          </a:xfrm>
          <a:prstGeom prst="rect">
            <a:avLst/>
          </a:prstGeom>
          <a:solidFill>
            <a:srgbClr val="018BFF">
              <a:alpha val="80000"/>
            </a:srgbClr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471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18BFF"/>
                </a:solidFill>
              </a:rPr>
              <a:t>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" y="44805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이력 커버리지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71800" y="4480560"/>
            <a:ext cx="5715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14.1~15.24 / 변화 280건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|  서비스 시나리오 — 사용자 경험 플로우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03704" y="1828800"/>
            <a:ext cx="265176" cy="36576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1956816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1956816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96112"/>
            <a:ext cx="1773936" cy="237744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경기 시작 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78408" y="1234440"/>
            <a:ext cx="640080" cy="640080"/>
          </a:xfrm>
          <a:prstGeom prst="ellipse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B61FF"/>
                </a:solidFill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Pre-game 승률 예측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542032"/>
            <a:ext cx="1225296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0604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 구성 벡터(64차원)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팀A 승리 확률 표시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(예: 블루팀 58%)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2544" y="1828800"/>
            <a:ext cx="265176" cy="36576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749808"/>
            <a:ext cx="1956816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749808"/>
            <a:ext cx="1956816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896112"/>
            <a:ext cx="1773936" cy="237744"/>
          </a:xfrm>
          <a:prstGeom prst="rect">
            <a:avLst/>
          </a:prstGeom>
          <a:solidFill>
            <a:srgbClr val="00C8FF">
              <a:alpha val="7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89611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경기 중 (10초 단위)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27248" y="1234440"/>
            <a:ext cx="640080" cy="640080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FF"/>
                </a:solidFill>
              </a:rPr>
              <a:t>◉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60320" y="19659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Prob 실시간 오버레이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2542032"/>
            <a:ext cx="1225296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60604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16피처 추론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골드차·킬·타워 종합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승률 시계열 그래프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01384" y="1828800"/>
            <a:ext cx="265176" cy="36576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749808"/>
            <a:ext cx="1956816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749808"/>
            <a:ext cx="1956816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896112"/>
            <a:ext cx="1773936" cy="237744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89611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한타 감지 (-15초)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76088" y="1234440"/>
            <a:ext cx="640080" cy="64008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6B"/>
                </a:solidFill>
              </a:rPr>
              <a:t>▲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709160" y="19659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관전 포인트 Alert 발동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83480" y="2542032"/>
            <a:ext cx="1225296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60604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LSTM+Rule+K-NN 앙상블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0.75 → 최적 카메라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자동 산정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749808"/>
            <a:ext cx="1956816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66560" y="749808"/>
            <a:ext cx="1956816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896112"/>
            <a:ext cx="1773936" cy="237744"/>
          </a:xfrm>
          <a:prstGeom prst="rect">
            <a:avLst/>
          </a:prstGeom>
          <a:solidFill>
            <a:srgbClr val="00D68F">
              <a:alpha val="75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89611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8F"/>
                </a:solidFill>
              </a:rPr>
              <a:t>한타 종료 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24928" y="1234440"/>
            <a:ext cx="640080" cy="640080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68F"/>
                </a:solidFill>
              </a:rPr>
              <a:t>✦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58000" y="19659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수준별 딥다이브 해설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32320" y="2542032"/>
            <a:ext cx="1225296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2606040"/>
            <a:ext cx="177393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캐주얼 ~ L4 분석가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RAG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5초 내 생성·전송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|  플렉서블 Gate 로드맵 — MiroFish 포함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749808"/>
            <a:ext cx="1664208" cy="4005072"/>
          </a:xfrm>
          <a:prstGeom prst="rect">
            <a:avLst/>
          </a:prstGeom>
          <a:solidFill>
            <a:srgbClr val="0D2A1F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749808"/>
            <a:ext cx="1664208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896112"/>
            <a:ext cx="1481328" cy="237744"/>
          </a:xfrm>
          <a:prstGeom prst="rect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68F"/>
                </a:solidFill>
              </a:rPr>
              <a:t>완료 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확정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~2026-05-16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" y="2359152"/>
            <a:ext cx="146304" cy="146304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AUC 0.8353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" y="2761488"/>
            <a:ext cx="146304" cy="146304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Teamfight Acc 83.4%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" y="3163824"/>
            <a:ext cx="146304" cy="146304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Embedding 1,572 노드 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" y="3566160"/>
            <a:ext cx="146304" cy="146304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CSV Top 50 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12264" y="749808"/>
            <a:ext cx="1664208" cy="4005072"/>
          </a:xfrm>
          <a:prstGeom prst="rect">
            <a:avLst/>
          </a:prstGeom>
          <a:solidFill>
            <a:srgbClr val="2A1A0D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12264" y="749808"/>
            <a:ext cx="1664208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03704" y="896112"/>
            <a:ext cx="1481328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03704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진행 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85416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85416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E2E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85416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~2026-06-13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40864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1992" y="2359152"/>
            <a:ext cx="146304" cy="146304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4016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실 자격증명 연결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21992" y="2761488"/>
            <a:ext cx="146304" cy="146304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14016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1경기 완전처리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21992" y="3163824"/>
            <a:ext cx="146304" cy="146304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4016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≤ 3초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21992" y="3566160"/>
            <a:ext cx="146304" cy="146304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오버레이 UI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86200" y="749808"/>
            <a:ext cx="166420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86200" y="749808"/>
            <a:ext cx="166420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896112"/>
            <a:ext cx="1481328" cy="237744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예정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59352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C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59352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파일럿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MiroFish 에이전트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59352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~2026-07-31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0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95928" y="2359152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87952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Precision ≥ 65%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95928" y="2761488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87952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오버레이 MVP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95928" y="3163824"/>
            <a:ext cx="146304" cy="146304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87952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선수 행동 속성 추출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95928" y="3566160"/>
            <a:ext cx="146304" cy="146304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87952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Neo4j 에이전트 노드화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0136" y="749808"/>
            <a:ext cx="166420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660136" y="749808"/>
            <a:ext cx="166420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51576" y="896112"/>
            <a:ext cx="1481328" cy="237744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51576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예정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33288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D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733288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파일럿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733288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~2026-10-31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888736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9864" y="2359152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61888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Precision ≥ 75%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769864" y="2761488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61888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Neo4j AuraDB 이전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769864" y="3163824"/>
            <a:ext cx="146304" cy="146304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61888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가상 로스터 시뮬레이터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769864" y="3566160"/>
            <a:ext cx="146304" cy="146304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61888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Monte Carlo 매치 MVP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34072" y="749808"/>
            <a:ext cx="1664208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2D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434072" y="749808"/>
            <a:ext cx="166420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25512" y="896112"/>
            <a:ext cx="1481328" cy="237744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25512" y="8961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예정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507224" y="120700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E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7507224" y="148132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(수익화 진입)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507224" y="1993392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2027-Q2~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662672" y="2249424"/>
            <a:ext cx="1207008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543800" y="2359152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35824" y="2331720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구독 서비스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543800" y="2761488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35824" y="2734056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방송사 파트너십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543800" y="3163824"/>
            <a:ext cx="146304" cy="146304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35824" y="313639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팀·코치 MiroFish 라이선스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543800" y="3566160"/>
            <a:ext cx="146304" cy="146304"/>
          </a:xfrm>
          <a:prstGeom prst="ellipse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35824" y="3538728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멀티경기 운영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38328" y="4572000"/>
            <a:ext cx="8458200" cy="219456"/>
          </a:xfrm>
          <a:prstGeom prst="rect">
            <a:avLst/>
          </a:prstGeom>
          <a:solidFill>
            <a:srgbClr val="231A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" y="45720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★  = MiroFish 선수 에이전트 관련 작업 (Gate C~E 핵심 차별화 기능 / 상세 설명: Slide 10~11)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|  MiroFish — 선수 에이전트 모델링 개념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231A0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질문:  "Gumayusi가 골드 열세 상황에서 한타를 강제하는 선수인가?" — 현재 시스템은 이 질문에 답할 수 없다.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069080" cy="3383280"/>
          </a:xfrm>
          <a:prstGeom prst="rect">
            <a:avLst/>
          </a:prstGeom>
          <a:solidFill>
            <a:srgbClr val="1A2236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53312"/>
            <a:ext cx="40690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44752"/>
            <a:ext cx="1097280" cy="256032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44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현재 (Before)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Player 노드 = 통계 컨테이너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148840"/>
            <a:ext cx="3721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이름, 팀, 포지션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14600"/>
            <a:ext cx="3721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PlayerGameStats[ ] — KDA, CS, 골드, 딜량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880360"/>
            <a:ext cx="3721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 픽 이력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246120"/>
            <a:ext cx="3721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'어떤 결과를 냈는가'만 표현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3721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선수의 성향·의사결정 방식 = 블랙박스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353312"/>
            <a:ext cx="4069080" cy="3383280"/>
          </a:xfrm>
          <a:prstGeom prst="rect">
            <a:avLst/>
          </a:prstGeom>
          <a:solidFill>
            <a:srgbClr val="231A0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353312"/>
            <a:ext cx="40690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444752"/>
            <a:ext cx="1280160" cy="256032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Gate C (MiroFish)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783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Player 노드 = 행동 에이전트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0328" y="21488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36792" y="21488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선제 교전 시도 빈도 (0~1 스코어)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0328" y="25146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fight_seek_rate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36792" y="25146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골드 열세 시 한타 강제 비율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0328" y="28803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deficit_response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36792" y="2880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| force_fight | stall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0328" y="3246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champion_affinity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6792" y="32461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선수-챔피언 행동 친화 임베딩 (16dim)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0328" y="36118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profile_confidence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36792" y="36118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0.0~1.0 (경기 누적에 따라 상승)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62272" y="2834640"/>
            <a:ext cx="228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16552" y="27614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 |  MiroFish — 도입 효과 및 비즈니스 가치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solidFill>
            <a:srgbClr val="231A0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498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MiroFish는 단순한 기능 추가가 아닌 시스템의 패러다임 전환: 데이터 기록 시스템 → 행동 시뮬레이션 플랫폼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224028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265176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89888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예측 모델 성능 향상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EXP-TF-002: 한타 결과 피처에 선수 aggression/deficit_response 추가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Teamfight Acc 83.4% → 86%+ 달성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Pre-game 예측: 구성 벡터(64dim) + 선수 행동(16dim) = 80dim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809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선수를 고려한 구성 vs 챔피언만 고려한 구성의 AUC 향상 기대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280160"/>
            <a:ext cx="2651760" cy="2240280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280160"/>
            <a:ext cx="265176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389888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해설 품질 혁신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828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프롬프트에 선수 DNA 주입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"블루팀이 바론 앞 한타에서 이겼습니다"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5968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"Gumayusi는 열세 시 한타 강제 성향(71%)이 있어 이번 진입은 예측된 행동"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29809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L3/L4 해설에서 선수의 과거 패턴·대안 시나리오 분석 가능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1280160"/>
            <a:ext cx="2651760" cy="224028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1280160"/>
            <a:ext cx="265176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389888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Monte Carlo 매치 시뮬레이터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에이전트 × 10명 → 1,000회 시뮬레이션 → 승률 분포 산출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경기 외 가상 대진 분석 가능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25968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"T1 vs Gen.G 리매치 시 승률은?" 시뮬레이션 지원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29809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 참여형 콘텐츠 및 B2B 분석 도구로 활용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39312"/>
            <a:ext cx="2651760" cy="1078992"/>
          </a:xfrm>
          <a:prstGeom prst="rect">
            <a:avLst/>
          </a:prstGeom>
          <a:solidFill>
            <a:srgbClr val="1A2236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639312"/>
            <a:ext cx="64008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75888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코치·감독 도구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986784"/>
            <a:ext cx="2450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로스터 구성 + 시뮬레이션 → 팀 전략 수립 보조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선수를 영입하면 승률이 어떻게 바뀌나?" 질문에 데이터로 답변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3639312"/>
            <a:ext cx="2651760" cy="1078992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08960" y="3639312"/>
            <a:ext cx="64008" cy="10789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3675888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신규 선수 Cold-start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46120" y="3986784"/>
            <a:ext cx="2450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루키·이적 선수: Prior(역할 평균) → 경기 누적 → Bayesian 업데이트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1~3: Prior 80% / 경기 11+: 관측 80% 전환 ('pro' 상태)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52160" y="3639312"/>
            <a:ext cx="2651760" cy="1078992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52160" y="3639312"/>
            <a:ext cx="64008" cy="10789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3675888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팬 참여 콘텐츠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89320" y="3986784"/>
            <a:ext cx="2450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"역대 드림팀" 가상 대결 시뮬레이션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행동 임베딩 기반 시대 초월 매치업 예측 제공 가능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 |  Gate B 단기 실행 계획 (~2026-06-13)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4980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49808"/>
            <a:ext cx="64008" cy="1783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86584" y="841248"/>
            <a:ext cx="566928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86584" y="841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8412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Bedrock 실 자격증명 연결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37160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43560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L1~L2 해설 실제 생성 테스트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한타 감지 → 해설 ≤ 5초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24028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240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1일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74980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749808"/>
            <a:ext cx="64008" cy="1783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21224" y="841248"/>
            <a:ext cx="566928" cy="2377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1224" y="841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8412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Stats E2E 1경기 완전 처리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9272" y="137160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143560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lolesports_live_poller --replay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한타 감지 → 해설 생성 로그 기록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224028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240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5일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16752" y="74980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749808"/>
            <a:ext cx="64008" cy="1783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55864" y="841248"/>
            <a:ext cx="566928" cy="237744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5864" y="841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P1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8412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Alert 레이턴시 측정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53912" y="137160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143560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발동 → 클라이언트 수신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p95 ≤ 3초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53912" y="224028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2240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2일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276148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2761488"/>
            <a:ext cx="64008" cy="1783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86584" y="2852928"/>
            <a:ext cx="566928" cy="237744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86584" y="2852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P1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" y="28529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Prob 실시간 오버레이 UI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" y="338328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4472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시계열 적재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오버레이 시각화 초안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" y="425196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4251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5일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82112" y="276148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82112" y="2761488"/>
            <a:ext cx="64008" cy="17830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21224" y="2852928"/>
            <a:ext cx="566928" cy="23774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21224" y="2852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P2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19272" y="28529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Pre-game 승률 예측 (EXP-PG-001)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319272" y="338328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4472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composition_embedding K-NN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AUC ≥ 0.70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19272" y="425196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4251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5일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16752" y="2761488"/>
            <a:ext cx="2697480" cy="1783080"/>
          </a:xfrm>
          <a:prstGeom prst="rect">
            <a:avLst/>
          </a:prstGeom>
          <a:solidFill>
            <a:srgbClr val="1A2236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16752" y="2761488"/>
            <a:ext cx="64008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55864" y="2852928"/>
            <a:ext cx="566928" cy="237744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55864" y="2852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53912" y="28529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per_player 개인 신호 저장 (MiroFish 준비)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53912" y="3383280"/>
            <a:ext cx="2468880" cy="1828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53912" y="3447288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player_state에 HP%/딜비중/킬참여율 컬럼 추가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 선수 에이전트 데이터 사전 확보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53912" y="4251960"/>
            <a:ext cx="731520" cy="201168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53912" y="4251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2일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47472" y="4572000"/>
            <a:ext cx="8458200" cy="219456"/>
          </a:xfrm>
          <a:prstGeom prst="rect">
            <a:avLst/>
          </a:prstGeom>
          <a:solidFill>
            <a:srgbClr val="2A1A0D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5720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Gate B 통과 기준: E2E ≤ 5초 / Alert p95 ≤ 3초 / Bedrock 월비용 ≤ $500 / 1경기 완전 처리 로그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 |  미래 전략 — 수익화 및 플랫폼화 방향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2651760" cy="2697480"/>
          </a:xfrm>
          <a:prstGeom prst="rect">
            <a:avLst/>
          </a:prstGeom>
          <a:solidFill>
            <a:srgbClr val="1A2236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265176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96112"/>
            <a:ext cx="2468880" cy="237744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961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Phase 1 (Gate 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1887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이스포츠 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무료 / $9.9/월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19202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76272"/>
            <a:ext cx="243230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L1~L2 해설 무료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L3~L4 구독 전용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오버레이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749808"/>
            <a:ext cx="2651760" cy="2697480"/>
          </a:xfrm>
          <a:prstGeom prst="rect">
            <a:avLst/>
          </a:prstGeom>
          <a:solidFill>
            <a:srgbClr val="1A2236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749808"/>
            <a:ext cx="265176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896112"/>
            <a:ext cx="2468880" cy="23774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8961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1887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방송사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64408" y="1572768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이스포츠 중계 플랫폼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협의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2103120"/>
            <a:ext cx="19202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176272"/>
            <a:ext cx="243230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플러그인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데이터 피드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API 제공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749808"/>
            <a:ext cx="2651760" cy="2697480"/>
          </a:xfrm>
          <a:prstGeom prst="rect">
            <a:avLst/>
          </a:prstGeom>
          <a:solidFill>
            <a:srgbClr val="1A2236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749808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896112"/>
            <a:ext cx="2468880" cy="237744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8961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Phase 2 (MiroFish 핵심)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53328" y="11887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팀·코치 라이선스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53328" y="1572768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프로팀·구단 분석팀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5332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$299/월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2103120"/>
            <a:ext cx="192024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2176272"/>
            <a:ext cx="243230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Analyst + MiroFish 가상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로스터 시뮬레이터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접근 권한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확장 계획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1371600" cy="237744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931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Gate B (현재)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0" y="39136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Docker + asyncio 배치 버퍼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3913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단계, Kinesis 불필요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42816"/>
            <a:ext cx="1371600" cy="237744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42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Gate 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42245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단일 인스턴스 + Neo4j AuraDB 이전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4224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Docker 이미지 그대로 이식 / Bolt URI 변경만으로 완료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553712"/>
            <a:ext cx="1371600" cy="237744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553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Gate 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828800" y="45354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팬아웃 + Timescale Cloud + MiroFish 시뮬레이터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45354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경기 ≥5개 / B2B 계약 확정 후 전환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7B61FF">
              <a:alpha val="8000"/>
            </a:srgbClr>
          </a:solidFill>
          <a:ln w="12700">
            <a:solidFill>
              <a:srgbClr val="7B61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요약 및 다음 단계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8229600" cy="22860"/>
          </a:xfrm>
          <a:prstGeom prst="rect">
            <a:avLst/>
          </a:prstGeom>
          <a:solidFill>
            <a:srgbClr val="2D3A52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49808"/>
            <a:ext cx="5349240" cy="676656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49808"/>
            <a:ext cx="64008" cy="676656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886968"/>
            <a:ext cx="384048" cy="384048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886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68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7955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4-레이어 온톨로지 아키텍처 + Neo4j 확정 (Neptune 대비 마이그레이션 비용 제로, GDS 라이브러리, 기존 1,572 노드 보존)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1536192"/>
            <a:ext cx="5349240" cy="676656"/>
          </a:xfrm>
          <a:prstGeom prst="rect">
            <a:avLst/>
          </a:prstGeom>
          <a:solidFill>
            <a:srgbClr val="1A2236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536192"/>
            <a:ext cx="64008" cy="676656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1673352"/>
            <a:ext cx="384048" cy="384048"/>
          </a:xfrm>
          <a:prstGeom prst="ellipse">
            <a:avLst/>
          </a:prstGeom>
          <a:solidFill>
            <a:srgbClr val="00D68F">
              <a:alpha val="8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68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158191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 전 항목 통과 — Win Prob AUC 0.8353 / Teamfight Acc 83.4%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2,000경기 / 106,566 타임스탬프 확보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322576"/>
            <a:ext cx="5349240" cy="676656"/>
          </a:xfrm>
          <a:prstGeom prst="rect">
            <a:avLst/>
          </a:prstGeom>
          <a:solidFill>
            <a:srgbClr val="1A2236"/>
          </a:solidFill>
          <a:ln w="12700">
            <a:solidFill>
              <a:srgbClr val="018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322576"/>
            <a:ext cx="64008" cy="676656"/>
          </a:xfrm>
          <a:prstGeom prst="rect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459736"/>
            <a:ext cx="384048" cy="384048"/>
          </a:xfrm>
          <a:prstGeom prst="ellipse">
            <a:avLst/>
          </a:prstGeom>
          <a:solidFill>
            <a:srgbClr val="018BFF">
              <a:alpha val="80000"/>
            </a:srgbClr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18BF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" y="236829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LCK 2025 데이터 파이프라인 완료 — 시리즈 209 / 게임 685 / 선수 114명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Neo4j: Player·Champion·Team·PlayerGameStats 전체 적재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108960"/>
            <a:ext cx="5349240" cy="676656"/>
          </a:xfrm>
          <a:prstGeom prst="rect">
            <a:avLst/>
          </a:prstGeom>
          <a:solidFill>
            <a:srgbClr val="1A2236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108960"/>
            <a:ext cx="64008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246120"/>
            <a:ext cx="384048" cy="38404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</a:rPr>
              <a:t>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31546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MiroFish (Gate C): Player 노드 → 행동 에이전트 전환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정확도 향상(83.4%→86%+) · 해설 품질 혁신 · Monte Carlo 시뮬레이터 기반 마련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3895344"/>
            <a:ext cx="5349240" cy="676656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895344"/>
            <a:ext cx="64008" cy="67665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4032504"/>
            <a:ext cx="384048" cy="384048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" y="394106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 진입: Bedrock 연결 + E2E 파이프라인 → 2026-06-13 목표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per_player 개인 신호 저장으로 Gate C MiroFish 데이터 사전 확보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61888" y="749808"/>
            <a:ext cx="2834640" cy="4005072"/>
          </a:xfrm>
          <a:prstGeom prst="rect">
            <a:avLst/>
          </a:prstGeom>
          <a:solidFill>
            <a:srgbClr val="1A2236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61888" y="749808"/>
            <a:ext cx="28346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3328" y="886968"/>
            <a:ext cx="2651760" cy="256032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즉시 실행 액션 (Gate B)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53328" y="1234440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53328" y="1289304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128930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28816" y="1261872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실 자격증명 연결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L1~L2 해설 생성 테스트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53328" y="1929384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53328" y="1984248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9842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28816" y="1956816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1경기 완전 처리 로그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한타감지·해설 파이프라인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53328" y="2624328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53328" y="2679192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53328" y="26791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28816" y="2651760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레이턴시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p95 ≤ 3초 목표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53328" y="3319272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53328" y="3374136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53328" y="337413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528816" y="3346704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실시간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오버레이 스크린샷 확보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53328" y="4014216"/>
            <a:ext cx="26517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D3A5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53328" y="4069080"/>
            <a:ext cx="420624" cy="2011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53328" y="406908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P2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28816" y="4041648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per_player 컬럼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Gate C MiroFish 데이터 준비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Riot Esports 실시간 경기 맥락 온톨로지  |  내부 임원 보고  |  2026-05-04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1C0BD74368C434982A66C757FB4EF51" ma:contentTypeVersion="14" ma:contentTypeDescription="새 문서를 만듭니다." ma:contentTypeScope="" ma:versionID="abcf3c1dee3f7f538f4598bc60100a95">
  <xsd:schema xmlns:xsd="http://www.w3.org/2001/XMLSchema" xmlns:xs="http://www.w3.org/2001/XMLSchema" xmlns:p="http://schemas.microsoft.com/office/2006/metadata/properties" xmlns:ns2="50fd3402-1425-4c5c-9d41-a8c0e9cae9be" xmlns:ns3="6964ddd8-76d1-4737-bbf7-9c47916b69c9" targetNamespace="http://schemas.microsoft.com/office/2006/metadata/properties" ma:root="true" ma:fieldsID="a060cd3cb9c7ed13084bf3fb0720187f" ns2:_="" ns3:_="">
    <xsd:import namespace="50fd3402-1425-4c5c-9d41-a8c0e9cae9be"/>
    <xsd:import namespace="6964ddd8-76d1-4737-bbf7-9c47916b69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fd3402-1425-4c5c-9d41-a8c0e9cae9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02fcb71f-41c1-4540-b2dc-8b4601181e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64ddd8-76d1-4737-bbf7-9c47916b69c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c3fadcd-a227-4e8e-b877-b1af5bcf6b21}" ma:internalName="TaxCatchAll" ma:showField="CatchAllData" ma:web="6964ddd8-76d1-4737-bbf7-9c47916b69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964ddd8-76d1-4737-bbf7-9c47916b69c9" xsi:nil="true"/>
    <lcf76f155ced4ddcb4097134ff3c332f xmlns="50fd3402-1425-4c5c-9d41-a8c0e9cae9b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F9DF32-0ADD-465B-9A87-A02EA1395379}"/>
</file>

<file path=customXml/itemProps2.xml><?xml version="1.0" encoding="utf-8"?>
<ds:datastoreItem xmlns:ds="http://schemas.openxmlformats.org/officeDocument/2006/customXml" ds:itemID="{DFF039D1-1B5A-419A-968A-AF3FF7D215E8}"/>
</file>

<file path=customXml/itemProps3.xml><?xml version="1.0" encoding="utf-8"?>
<ds:datastoreItem xmlns:ds="http://schemas.openxmlformats.org/officeDocument/2006/customXml" ds:itemID="{555F6DF2-AB54-4FEE-BC53-C23DC134F0A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Riot Esports 실시간 경기 맥락 온톨로지 — 내부 임원 보고 v2</dc:title>
  <dc:subject>PptxGenJS Presentation</dc:subject>
  <dc:creator>PptxGenJS</dc:creator>
  <cp:lastModifiedBy>PptxGenJS</cp:lastModifiedBy>
  <cp:revision>1</cp:revision>
  <dcterms:created xsi:type="dcterms:W3CDTF">2026-05-03T16:36:42Z</dcterms:created>
  <dcterms:modified xsi:type="dcterms:W3CDTF">2026-05-03T16:36:42Z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0x010100C1C0BD74368C434982A66C757FB4EF51</vt:lpwstr>
  </property>
</Properties>
</file>